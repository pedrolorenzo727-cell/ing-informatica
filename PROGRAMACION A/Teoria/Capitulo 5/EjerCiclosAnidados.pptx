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9144000" cy="6858000" type="screen4x3"/>
  <p:notesSz cx="6858000" cy="9144000"/>
  <p:defaultTextStyle>
    <a:defPPr>
      <a:defRPr lang="es-A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7" d="100"/>
          <a:sy n="87" d="100"/>
        </p:scale>
        <p:origin x="-1062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s-AR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F3F491-A20F-424C-BAE2-3F1FC74A2A13}" type="datetimeFigureOut">
              <a:rPr lang="es-AR" smtClean="0"/>
              <a:pPr/>
              <a:t>09/09/2024</a:t>
            </a:fld>
            <a:endParaRPr lang="es-AR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6C934C-7EFD-4BA2-B8FE-06373487F04B}" type="slidenum">
              <a:rPr lang="es-AR" smtClean="0"/>
              <a:pPr/>
              <a:t>‹Nº›</a:t>
            </a:fld>
            <a:endParaRPr lang="es-A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F3F491-A20F-424C-BAE2-3F1FC74A2A13}" type="datetimeFigureOut">
              <a:rPr lang="es-AR" smtClean="0"/>
              <a:pPr/>
              <a:t>09/09/2024</a:t>
            </a:fld>
            <a:endParaRPr lang="es-AR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6C934C-7EFD-4BA2-B8FE-06373487F04B}" type="slidenum">
              <a:rPr lang="es-AR" smtClean="0"/>
              <a:pPr/>
              <a:t>‹Nº›</a:t>
            </a:fld>
            <a:endParaRPr lang="es-A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F3F491-A20F-424C-BAE2-3F1FC74A2A13}" type="datetimeFigureOut">
              <a:rPr lang="es-AR" smtClean="0"/>
              <a:pPr/>
              <a:t>09/09/2024</a:t>
            </a:fld>
            <a:endParaRPr lang="es-AR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6C934C-7EFD-4BA2-B8FE-06373487F04B}" type="slidenum">
              <a:rPr lang="es-AR" smtClean="0"/>
              <a:pPr/>
              <a:t>‹Nº›</a:t>
            </a:fld>
            <a:endParaRPr lang="es-A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F3F491-A20F-424C-BAE2-3F1FC74A2A13}" type="datetimeFigureOut">
              <a:rPr lang="es-AR" smtClean="0"/>
              <a:pPr/>
              <a:t>09/09/2024</a:t>
            </a:fld>
            <a:endParaRPr lang="es-AR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6C934C-7EFD-4BA2-B8FE-06373487F04B}" type="slidenum">
              <a:rPr lang="es-AR" smtClean="0"/>
              <a:pPr/>
              <a:t>‹Nº›</a:t>
            </a:fld>
            <a:endParaRPr lang="es-A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F3F491-A20F-424C-BAE2-3F1FC74A2A13}" type="datetimeFigureOut">
              <a:rPr lang="es-AR" smtClean="0"/>
              <a:pPr/>
              <a:t>09/09/2024</a:t>
            </a:fld>
            <a:endParaRPr lang="es-AR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6C934C-7EFD-4BA2-B8FE-06373487F04B}" type="slidenum">
              <a:rPr lang="es-AR" smtClean="0"/>
              <a:pPr/>
              <a:t>‹Nº›</a:t>
            </a:fld>
            <a:endParaRPr lang="es-A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F3F491-A20F-424C-BAE2-3F1FC74A2A13}" type="datetimeFigureOut">
              <a:rPr lang="es-AR" smtClean="0"/>
              <a:pPr/>
              <a:t>09/09/2024</a:t>
            </a:fld>
            <a:endParaRPr lang="es-AR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6C934C-7EFD-4BA2-B8FE-06373487F04B}" type="slidenum">
              <a:rPr lang="es-AR" smtClean="0"/>
              <a:pPr/>
              <a:t>‹Nº›</a:t>
            </a:fld>
            <a:endParaRPr lang="es-A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F3F491-A20F-424C-BAE2-3F1FC74A2A13}" type="datetimeFigureOut">
              <a:rPr lang="es-AR" smtClean="0"/>
              <a:pPr/>
              <a:t>09/09/2024</a:t>
            </a:fld>
            <a:endParaRPr lang="es-AR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6C934C-7EFD-4BA2-B8FE-06373487F04B}" type="slidenum">
              <a:rPr lang="es-AR" smtClean="0"/>
              <a:pPr/>
              <a:t>‹Nº›</a:t>
            </a:fld>
            <a:endParaRPr lang="es-A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F3F491-A20F-424C-BAE2-3F1FC74A2A13}" type="datetimeFigureOut">
              <a:rPr lang="es-AR" smtClean="0"/>
              <a:pPr/>
              <a:t>09/09/2024</a:t>
            </a:fld>
            <a:endParaRPr lang="es-AR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6C934C-7EFD-4BA2-B8FE-06373487F04B}" type="slidenum">
              <a:rPr lang="es-AR" smtClean="0"/>
              <a:pPr/>
              <a:t>‹Nº›</a:t>
            </a:fld>
            <a:endParaRPr lang="es-A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AR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F3F491-A20F-424C-BAE2-3F1FC74A2A13}" type="datetimeFigureOut">
              <a:rPr lang="es-AR" smtClean="0"/>
              <a:pPr/>
              <a:t>09/09/2024</a:t>
            </a:fld>
            <a:endParaRPr lang="es-AR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6C934C-7EFD-4BA2-B8FE-06373487F04B}" type="slidenum">
              <a:rPr lang="es-AR" smtClean="0"/>
              <a:pPr/>
              <a:t>‹Nº›</a:t>
            </a:fld>
            <a:endParaRPr lang="es-A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F3F491-A20F-424C-BAE2-3F1FC74A2A13}" type="datetimeFigureOut">
              <a:rPr lang="es-AR" smtClean="0"/>
              <a:pPr/>
              <a:t>09/09/2024</a:t>
            </a:fld>
            <a:endParaRPr lang="es-AR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6C934C-7EFD-4BA2-B8FE-06373487F04B}" type="slidenum">
              <a:rPr lang="es-AR" smtClean="0"/>
              <a:pPr/>
              <a:t>‹Nº›</a:t>
            </a:fld>
            <a:endParaRPr lang="es-A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F3F491-A20F-424C-BAE2-3F1FC74A2A13}" type="datetimeFigureOut">
              <a:rPr lang="es-AR" smtClean="0"/>
              <a:pPr/>
              <a:t>09/09/2024</a:t>
            </a:fld>
            <a:endParaRPr lang="es-AR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6C934C-7EFD-4BA2-B8FE-06373487F04B}" type="slidenum">
              <a:rPr lang="es-AR" smtClean="0"/>
              <a:pPr/>
              <a:t>‹Nº›</a:t>
            </a:fld>
            <a:endParaRPr lang="es-A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F3F491-A20F-424C-BAE2-3F1FC74A2A13}" type="datetimeFigureOut">
              <a:rPr lang="es-AR" smtClean="0"/>
              <a:pPr/>
              <a:t>09/09/2024</a:t>
            </a:fld>
            <a:endParaRPr lang="es-AR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AR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6C934C-7EFD-4BA2-B8FE-06373487F04B}" type="slidenum">
              <a:rPr lang="es-AR" smtClean="0"/>
              <a:pPr/>
              <a:t>‹Nº›</a:t>
            </a:fld>
            <a:endParaRPr lang="es-A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A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CuadroTexto"/>
          <p:cNvSpPr txBox="1"/>
          <p:nvPr/>
        </p:nvSpPr>
        <p:spPr>
          <a:xfrm>
            <a:off x="357158" y="3534013"/>
            <a:ext cx="5857916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400" dirty="0" smtClean="0"/>
              <a:t>Se </a:t>
            </a:r>
            <a:r>
              <a:rPr lang="es-AR" sz="2400" dirty="0"/>
              <a:t>desea conocer:</a:t>
            </a:r>
          </a:p>
          <a:p>
            <a:pPr marL="457200" lvl="0" indent="-457200">
              <a:buFont typeface="+mj-lt"/>
              <a:buAutoNum type="alphaLcParenR"/>
            </a:pPr>
            <a:r>
              <a:rPr lang="es-AR" sz="2400" dirty="0"/>
              <a:t>Para cada Tambo, Nombre y el día que más litros de leche entregó.</a:t>
            </a:r>
          </a:p>
          <a:p>
            <a:pPr marL="457200" lvl="0" indent="-457200">
              <a:buFont typeface="+mj-lt"/>
              <a:buAutoNum type="alphaLcParenR"/>
            </a:pPr>
            <a:r>
              <a:rPr lang="es-AR" sz="2400" dirty="0"/>
              <a:t>Promedio total de leche </a:t>
            </a:r>
            <a:r>
              <a:rPr lang="es-AR" sz="2400" dirty="0" smtClean="0"/>
              <a:t>por </a:t>
            </a:r>
            <a:r>
              <a:rPr lang="es-AR" sz="2400" dirty="0"/>
              <a:t>Tambo</a:t>
            </a:r>
            <a:r>
              <a:rPr lang="es-AR" sz="2400" dirty="0" smtClean="0"/>
              <a:t>.</a:t>
            </a:r>
          </a:p>
          <a:p>
            <a:pPr marL="457200" lvl="0" indent="-457200">
              <a:buFont typeface="+mj-lt"/>
              <a:buAutoNum type="alphaLcParenR"/>
            </a:pPr>
            <a:r>
              <a:rPr lang="es-AR" sz="2400" dirty="0"/>
              <a:t>Cuántos Tambos </a:t>
            </a:r>
            <a:r>
              <a:rPr lang="es-AR" sz="2400" dirty="0" smtClean="0"/>
              <a:t>superaron </a:t>
            </a:r>
            <a:r>
              <a:rPr lang="es-AR" sz="2400" dirty="0"/>
              <a:t>X </a:t>
            </a:r>
            <a:r>
              <a:rPr lang="es-AR" sz="2400" dirty="0" smtClean="0"/>
              <a:t>litros en total. </a:t>
            </a:r>
            <a:r>
              <a:rPr lang="es-AR" sz="2400" dirty="0"/>
              <a:t>(X es </a:t>
            </a:r>
            <a:r>
              <a:rPr lang="es-AR" sz="2400" dirty="0" smtClean="0"/>
              <a:t>dato ingresado por teclado).</a:t>
            </a:r>
            <a:endParaRPr lang="es-AR" sz="2400" dirty="0"/>
          </a:p>
          <a:p>
            <a:endParaRPr lang="es-AR" dirty="0"/>
          </a:p>
        </p:txBody>
      </p:sp>
      <p:sp>
        <p:nvSpPr>
          <p:cNvPr id="6" name="5 CuadroTexto"/>
          <p:cNvSpPr txBox="1"/>
          <p:nvPr/>
        </p:nvSpPr>
        <p:spPr>
          <a:xfrm>
            <a:off x="428596" y="571480"/>
            <a:ext cx="281493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sz="2800" b="1" dirty="0" smtClean="0"/>
              <a:t>Ejercicio de Ciclos</a:t>
            </a:r>
            <a:endParaRPr lang="es-AR" sz="2800" b="1" dirty="0"/>
          </a:p>
        </p:txBody>
      </p:sp>
      <p:sp>
        <p:nvSpPr>
          <p:cNvPr id="7" name="6 CuadroTexto"/>
          <p:cNvSpPr txBox="1"/>
          <p:nvPr/>
        </p:nvSpPr>
        <p:spPr>
          <a:xfrm>
            <a:off x="357158" y="1214422"/>
            <a:ext cx="8786842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400" dirty="0" smtClean="0"/>
              <a:t>Una compañía Láctea recibe la producción diaria, en litros de leche de N Tambos de la zona, durante varios días.</a:t>
            </a:r>
          </a:p>
          <a:p>
            <a:r>
              <a:rPr lang="es-AR" sz="2400" dirty="0" smtClean="0"/>
              <a:t>Los datos vienen de la siguiente manera:</a:t>
            </a:r>
          </a:p>
          <a:p>
            <a:pPr>
              <a:buFont typeface="Wingdings" pitchFamily="2" charset="2"/>
              <a:buChar char="Ø"/>
            </a:pPr>
            <a:r>
              <a:rPr lang="es-AR" sz="2400" dirty="0" smtClean="0"/>
              <a:t> Nombre del Tambo y a continuación: </a:t>
            </a:r>
          </a:p>
          <a:p>
            <a:pPr lvl="1">
              <a:buFont typeface="Wingdings" pitchFamily="2" charset="2"/>
              <a:buChar char="ü"/>
            </a:pPr>
            <a:r>
              <a:rPr lang="es-AR" sz="2400" dirty="0" smtClean="0"/>
              <a:t> Día  de entrega (0=fin de datos)</a:t>
            </a:r>
          </a:p>
          <a:p>
            <a:pPr lvl="1">
              <a:buFont typeface="Wingdings" pitchFamily="2" charset="2"/>
              <a:buChar char="ü"/>
            </a:pPr>
            <a:r>
              <a:rPr lang="es-AR" sz="2400" dirty="0" smtClean="0"/>
              <a:t> Entrega en litros</a:t>
            </a:r>
          </a:p>
          <a:p>
            <a:r>
              <a:rPr lang="es-AR" sz="2400" dirty="0" smtClean="0"/>
              <a:t> </a:t>
            </a:r>
          </a:p>
        </p:txBody>
      </p:sp>
      <p:graphicFrame>
        <p:nvGraphicFramePr>
          <p:cNvPr id="8" name="7 Tabla"/>
          <p:cNvGraphicFramePr>
            <a:graphicFrameLocks noGrp="1"/>
          </p:cNvGraphicFramePr>
          <p:nvPr/>
        </p:nvGraphicFramePr>
        <p:xfrm>
          <a:off x="6643702" y="1838348"/>
          <a:ext cx="2071702" cy="4876800"/>
        </p:xfrm>
        <a:graphic>
          <a:graphicData uri="http://schemas.openxmlformats.org/drawingml/2006/table">
            <a:tbl>
              <a:tblPr/>
              <a:tblGrid>
                <a:gridCol w="2071702"/>
              </a:tblGrid>
              <a:tr h="267893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s-AR" sz="2000" dirty="0">
                          <a:latin typeface="Arial"/>
                          <a:ea typeface="Times New Roman"/>
                          <a:cs typeface="Times New Roman"/>
                        </a:rPr>
                        <a:t>N=3</a:t>
                      </a:r>
                      <a:endParaRPr lang="es-AR" sz="2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7893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s-AR" sz="2000" dirty="0">
                          <a:latin typeface="Arial"/>
                          <a:ea typeface="Times New Roman"/>
                          <a:cs typeface="Times New Roman"/>
                        </a:rPr>
                        <a:t>La </a:t>
                      </a:r>
                      <a:r>
                        <a:rPr lang="es-AR" sz="2000" dirty="0" err="1">
                          <a:latin typeface="Arial"/>
                          <a:ea typeface="Times New Roman"/>
                          <a:cs typeface="Times New Roman"/>
                        </a:rPr>
                        <a:t>Serenisima</a:t>
                      </a:r>
                      <a:endParaRPr lang="es-AR" sz="2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7893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s-AR" sz="2000" dirty="0">
                          <a:latin typeface="Arial"/>
                          <a:ea typeface="Times New Roman"/>
                          <a:cs typeface="Times New Roman"/>
                        </a:rPr>
                        <a:t>1   500</a:t>
                      </a:r>
                      <a:endParaRPr lang="es-AR" sz="2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7893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s-AR" sz="2000">
                          <a:latin typeface="Arial"/>
                          <a:ea typeface="Times New Roman"/>
                          <a:cs typeface="Times New Roman"/>
                        </a:rPr>
                        <a:t>2   300</a:t>
                      </a:r>
                      <a:endParaRPr lang="es-AR" sz="2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7893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s-AR" sz="2000" b="0" dirty="0">
                          <a:latin typeface="Arial"/>
                          <a:ea typeface="Times New Roman"/>
                          <a:cs typeface="Times New Roman"/>
                        </a:rPr>
                        <a:t>3   700</a:t>
                      </a:r>
                      <a:endParaRPr lang="es-AR" sz="2400" b="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7893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s-AR" sz="2000">
                          <a:latin typeface="Arial"/>
                          <a:ea typeface="Times New Roman"/>
                          <a:cs typeface="Times New Roman"/>
                        </a:rPr>
                        <a:t>0</a:t>
                      </a:r>
                      <a:endParaRPr lang="es-AR" sz="2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7893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s-AR" sz="2000">
                          <a:latin typeface="Arial"/>
                          <a:ea typeface="Times New Roman"/>
                          <a:cs typeface="Times New Roman"/>
                        </a:rPr>
                        <a:t>Sancor</a:t>
                      </a:r>
                      <a:endParaRPr lang="es-AR" sz="2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7893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s-AR" sz="2000">
                          <a:latin typeface="Arial"/>
                          <a:ea typeface="Times New Roman"/>
                          <a:cs typeface="Times New Roman"/>
                        </a:rPr>
                        <a:t>1   300</a:t>
                      </a:r>
                      <a:endParaRPr lang="es-AR" sz="2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7893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s-AR" sz="2000" b="0" dirty="0">
                          <a:latin typeface="Arial"/>
                          <a:ea typeface="Times New Roman"/>
                          <a:cs typeface="Times New Roman"/>
                        </a:rPr>
                        <a:t>2   850</a:t>
                      </a:r>
                      <a:endParaRPr lang="es-AR" sz="2400" b="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7893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s-AR" sz="2000">
                          <a:latin typeface="Arial"/>
                          <a:ea typeface="Times New Roman"/>
                          <a:cs typeface="Times New Roman"/>
                        </a:rPr>
                        <a:t>3   450</a:t>
                      </a:r>
                      <a:endParaRPr lang="es-AR" sz="2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7893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s-AR" sz="2000">
                          <a:latin typeface="Arial"/>
                          <a:ea typeface="Times New Roman"/>
                          <a:cs typeface="Times New Roman"/>
                        </a:rPr>
                        <a:t>4   400</a:t>
                      </a:r>
                      <a:endParaRPr lang="es-AR" sz="2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7893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s-AR" sz="2000">
                          <a:latin typeface="Arial"/>
                          <a:ea typeface="Times New Roman"/>
                          <a:cs typeface="Times New Roman"/>
                        </a:rPr>
                        <a:t>0</a:t>
                      </a:r>
                      <a:endParaRPr lang="es-AR" sz="2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7893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s-AR" sz="2000">
                          <a:latin typeface="Arial"/>
                          <a:ea typeface="Times New Roman"/>
                          <a:cs typeface="Times New Roman"/>
                        </a:rPr>
                        <a:t>Amanecer</a:t>
                      </a:r>
                      <a:endParaRPr lang="es-AR" sz="2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7893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s-AR" sz="2000" b="0" dirty="0">
                          <a:latin typeface="Arial"/>
                          <a:ea typeface="Times New Roman"/>
                          <a:cs typeface="Times New Roman"/>
                        </a:rPr>
                        <a:t>1   500</a:t>
                      </a:r>
                      <a:endParaRPr lang="es-AR" sz="2400" b="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7893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s-AR" sz="2000">
                          <a:latin typeface="Arial"/>
                          <a:ea typeface="Times New Roman"/>
                          <a:cs typeface="Times New Roman"/>
                        </a:rPr>
                        <a:t>2   300</a:t>
                      </a:r>
                      <a:endParaRPr lang="es-AR" sz="2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7893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s-AR" sz="2000" dirty="0">
                          <a:latin typeface="Arial"/>
                          <a:ea typeface="Times New Roman"/>
                          <a:cs typeface="Times New Roman"/>
                        </a:rPr>
                        <a:t>0</a:t>
                      </a:r>
                      <a:endParaRPr lang="es-AR" sz="2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4 Tabla"/>
          <p:cNvGraphicFramePr>
            <a:graphicFrameLocks noGrp="1"/>
          </p:cNvGraphicFramePr>
          <p:nvPr/>
        </p:nvGraphicFramePr>
        <p:xfrm>
          <a:off x="428596" y="1714488"/>
          <a:ext cx="2071702" cy="4876800"/>
        </p:xfrm>
        <a:graphic>
          <a:graphicData uri="http://schemas.openxmlformats.org/drawingml/2006/table">
            <a:tbl>
              <a:tblPr/>
              <a:tblGrid>
                <a:gridCol w="2071702"/>
              </a:tblGrid>
              <a:tr h="267893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s-AR" sz="2000" dirty="0">
                          <a:latin typeface="Arial"/>
                          <a:ea typeface="Times New Roman"/>
                          <a:cs typeface="Times New Roman"/>
                        </a:rPr>
                        <a:t>N=3</a:t>
                      </a:r>
                      <a:endParaRPr lang="es-AR" sz="2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7893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s-AR" sz="2000" dirty="0">
                          <a:latin typeface="Arial"/>
                          <a:ea typeface="Times New Roman"/>
                          <a:cs typeface="Times New Roman"/>
                        </a:rPr>
                        <a:t>La </a:t>
                      </a:r>
                      <a:r>
                        <a:rPr lang="es-AR" sz="2000" dirty="0" err="1">
                          <a:latin typeface="Arial"/>
                          <a:ea typeface="Times New Roman"/>
                          <a:cs typeface="Times New Roman"/>
                        </a:rPr>
                        <a:t>Serenisima</a:t>
                      </a:r>
                      <a:endParaRPr lang="es-AR" sz="2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7893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s-AR" sz="2000" dirty="0">
                          <a:latin typeface="Arial"/>
                          <a:ea typeface="Times New Roman"/>
                          <a:cs typeface="Times New Roman"/>
                        </a:rPr>
                        <a:t>1   500</a:t>
                      </a:r>
                      <a:endParaRPr lang="es-AR" sz="2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7893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s-AR" sz="2000">
                          <a:latin typeface="Arial"/>
                          <a:ea typeface="Times New Roman"/>
                          <a:cs typeface="Times New Roman"/>
                        </a:rPr>
                        <a:t>2   300</a:t>
                      </a:r>
                      <a:endParaRPr lang="es-AR" sz="2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7893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s-AR" sz="2000" b="1">
                          <a:latin typeface="Arial"/>
                          <a:ea typeface="Times New Roman"/>
                          <a:cs typeface="Times New Roman"/>
                        </a:rPr>
                        <a:t>3   700</a:t>
                      </a:r>
                      <a:endParaRPr lang="es-AR" sz="2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7893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s-AR" sz="2000">
                          <a:latin typeface="Arial"/>
                          <a:ea typeface="Times New Roman"/>
                          <a:cs typeface="Times New Roman"/>
                        </a:rPr>
                        <a:t>0</a:t>
                      </a:r>
                      <a:endParaRPr lang="es-AR" sz="2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7893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s-AR" sz="2000">
                          <a:latin typeface="Arial"/>
                          <a:ea typeface="Times New Roman"/>
                          <a:cs typeface="Times New Roman"/>
                        </a:rPr>
                        <a:t>Sancor</a:t>
                      </a:r>
                      <a:endParaRPr lang="es-AR" sz="2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7893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s-AR" sz="2000">
                          <a:latin typeface="Arial"/>
                          <a:ea typeface="Times New Roman"/>
                          <a:cs typeface="Times New Roman"/>
                        </a:rPr>
                        <a:t>1   300</a:t>
                      </a:r>
                      <a:endParaRPr lang="es-AR" sz="2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7893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s-AR" sz="2000" b="1">
                          <a:latin typeface="Arial"/>
                          <a:ea typeface="Times New Roman"/>
                          <a:cs typeface="Times New Roman"/>
                        </a:rPr>
                        <a:t>2   850</a:t>
                      </a:r>
                      <a:endParaRPr lang="es-AR" sz="2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7893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s-AR" sz="2000">
                          <a:latin typeface="Arial"/>
                          <a:ea typeface="Times New Roman"/>
                          <a:cs typeface="Times New Roman"/>
                        </a:rPr>
                        <a:t>3   450</a:t>
                      </a:r>
                      <a:endParaRPr lang="es-AR" sz="2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7893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s-AR" sz="2000">
                          <a:latin typeface="Arial"/>
                          <a:ea typeface="Times New Roman"/>
                          <a:cs typeface="Times New Roman"/>
                        </a:rPr>
                        <a:t>4   400</a:t>
                      </a:r>
                      <a:endParaRPr lang="es-AR" sz="2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7893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s-AR" sz="2000">
                          <a:latin typeface="Arial"/>
                          <a:ea typeface="Times New Roman"/>
                          <a:cs typeface="Times New Roman"/>
                        </a:rPr>
                        <a:t>0</a:t>
                      </a:r>
                      <a:endParaRPr lang="es-AR" sz="2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7893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s-AR" sz="2000">
                          <a:latin typeface="Arial"/>
                          <a:ea typeface="Times New Roman"/>
                          <a:cs typeface="Times New Roman"/>
                        </a:rPr>
                        <a:t>Amanecer</a:t>
                      </a:r>
                      <a:endParaRPr lang="es-AR" sz="2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7893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s-AR" sz="2000" b="1" dirty="0">
                          <a:latin typeface="Arial"/>
                          <a:ea typeface="Times New Roman"/>
                          <a:cs typeface="Times New Roman"/>
                        </a:rPr>
                        <a:t>1   </a:t>
                      </a:r>
                      <a:r>
                        <a:rPr lang="es-AR" sz="2000" b="1" dirty="0" smtClean="0">
                          <a:latin typeface="Arial"/>
                          <a:ea typeface="Times New Roman"/>
                          <a:cs typeface="Times New Roman"/>
                        </a:rPr>
                        <a:t>400</a:t>
                      </a:r>
                      <a:endParaRPr lang="es-AR" sz="2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7893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s-AR" sz="2000">
                          <a:latin typeface="Arial"/>
                          <a:ea typeface="Times New Roman"/>
                          <a:cs typeface="Times New Roman"/>
                        </a:rPr>
                        <a:t>2   300</a:t>
                      </a:r>
                      <a:endParaRPr lang="es-AR" sz="2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7893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s-AR" sz="2000" dirty="0">
                          <a:latin typeface="Arial"/>
                          <a:ea typeface="Times New Roman"/>
                          <a:cs typeface="Times New Roman"/>
                        </a:rPr>
                        <a:t>0</a:t>
                      </a:r>
                      <a:endParaRPr lang="es-AR" sz="2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5 Título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s-AR" sz="2000" dirty="0" smtClean="0"/>
              <a:t>Se </a:t>
            </a:r>
            <a:r>
              <a:rPr lang="es-AR" sz="2000" dirty="0"/>
              <a:t>desea conocer:</a:t>
            </a:r>
          </a:p>
          <a:p>
            <a:pPr marL="457200" lvl="0" indent="-457200" algn="l">
              <a:buFont typeface="+mj-lt"/>
              <a:buAutoNum type="alphaLcParenR"/>
            </a:pPr>
            <a:r>
              <a:rPr lang="es-AR" sz="2000" dirty="0"/>
              <a:t>Para cada Tambo, Nombre y el día que más litros de leche entregó.</a:t>
            </a:r>
          </a:p>
          <a:p>
            <a:pPr marL="457200" lvl="0" indent="-457200" algn="l">
              <a:buFont typeface="+mj-lt"/>
              <a:buAutoNum type="alphaLcParenR"/>
            </a:pPr>
            <a:r>
              <a:rPr lang="es-AR" sz="2000" dirty="0"/>
              <a:t>Promedio total de leche </a:t>
            </a:r>
            <a:r>
              <a:rPr lang="es-AR" sz="2000"/>
              <a:t>entregado </a:t>
            </a:r>
            <a:r>
              <a:rPr lang="es-AR" sz="2000" smtClean="0"/>
              <a:t>por</a:t>
            </a:r>
            <a:r>
              <a:rPr lang="es-AR" sz="2000" smtClean="0"/>
              <a:t> </a:t>
            </a:r>
            <a:r>
              <a:rPr lang="es-AR" sz="2000" dirty="0"/>
              <a:t>Tambo</a:t>
            </a:r>
            <a:r>
              <a:rPr lang="es-AR" sz="2000" dirty="0" smtClean="0"/>
              <a:t>.</a:t>
            </a:r>
          </a:p>
          <a:p>
            <a:pPr marL="457200" lvl="0" indent="-457200" algn="l">
              <a:buFont typeface="+mj-lt"/>
              <a:buAutoNum type="alphaLcParenR"/>
            </a:pPr>
            <a:r>
              <a:rPr lang="es-AR" sz="2000" dirty="0"/>
              <a:t>Cuántos Tambos </a:t>
            </a:r>
            <a:r>
              <a:rPr lang="es-AR" sz="2000" dirty="0" smtClean="0"/>
              <a:t>superaron </a:t>
            </a:r>
            <a:r>
              <a:rPr lang="es-AR" sz="2000" dirty="0"/>
              <a:t>X </a:t>
            </a:r>
            <a:r>
              <a:rPr lang="es-AR" sz="2000" dirty="0" smtClean="0"/>
              <a:t>litros en total. </a:t>
            </a:r>
            <a:r>
              <a:rPr lang="es-AR" sz="2000" dirty="0"/>
              <a:t>(X es </a:t>
            </a:r>
            <a:r>
              <a:rPr lang="es-AR" sz="2000" dirty="0" smtClean="0"/>
              <a:t>ingresado por teclado).</a:t>
            </a:r>
            <a:endParaRPr lang="es-AR" sz="2000" dirty="0"/>
          </a:p>
        </p:txBody>
      </p:sp>
      <p:sp>
        <p:nvSpPr>
          <p:cNvPr id="4" name="3 Flecha derecha"/>
          <p:cNvSpPr/>
          <p:nvPr/>
        </p:nvSpPr>
        <p:spPr>
          <a:xfrm>
            <a:off x="3286116" y="3500438"/>
            <a:ext cx="978408" cy="107157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7" name="6 CuadroTexto"/>
          <p:cNvSpPr txBox="1"/>
          <p:nvPr/>
        </p:nvSpPr>
        <p:spPr>
          <a:xfrm>
            <a:off x="4929190" y="2857496"/>
            <a:ext cx="2643206" cy="25237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000" dirty="0" smtClean="0"/>
              <a:t>a) </a:t>
            </a:r>
            <a:r>
              <a:rPr lang="es-AR" sz="2000" dirty="0" smtClean="0">
                <a:latin typeface="Arial"/>
                <a:ea typeface="Times New Roman"/>
                <a:cs typeface="Times New Roman"/>
              </a:rPr>
              <a:t>La </a:t>
            </a:r>
            <a:r>
              <a:rPr lang="es-AR" sz="2000" dirty="0" err="1" smtClean="0">
                <a:latin typeface="Arial"/>
                <a:ea typeface="Times New Roman"/>
                <a:cs typeface="Times New Roman"/>
              </a:rPr>
              <a:t>Serenisima</a:t>
            </a:r>
            <a:r>
              <a:rPr lang="es-AR" sz="2000" dirty="0" smtClean="0">
                <a:latin typeface="Arial"/>
                <a:ea typeface="Times New Roman"/>
                <a:cs typeface="Times New Roman"/>
              </a:rPr>
              <a:t>   3</a:t>
            </a:r>
            <a:r>
              <a:rPr lang="es-AR" sz="2000" dirty="0" smtClean="0"/>
              <a:t>     </a:t>
            </a:r>
          </a:p>
          <a:p>
            <a:r>
              <a:rPr lang="es-AR" sz="2000" dirty="0" smtClean="0"/>
              <a:t>     </a:t>
            </a:r>
            <a:r>
              <a:rPr lang="es-AR" sz="2000" dirty="0" err="1" smtClean="0">
                <a:latin typeface="Arial" pitchFamily="34" charset="0"/>
                <a:cs typeface="Arial" pitchFamily="34" charset="0"/>
              </a:rPr>
              <a:t>Sancor</a:t>
            </a:r>
            <a:r>
              <a:rPr lang="es-AR" sz="2000" dirty="0" smtClean="0">
                <a:latin typeface="Arial" pitchFamily="34" charset="0"/>
                <a:cs typeface="Arial" pitchFamily="34" charset="0"/>
              </a:rPr>
              <a:t>  2</a:t>
            </a:r>
          </a:p>
          <a:p>
            <a:r>
              <a:rPr lang="es-AR" sz="2000" dirty="0" smtClean="0">
                <a:latin typeface="Arial" pitchFamily="34" charset="0"/>
                <a:cs typeface="Arial" pitchFamily="34" charset="0"/>
              </a:rPr>
              <a:t>    Amanecer  1</a:t>
            </a:r>
          </a:p>
          <a:p>
            <a:endParaRPr lang="es-AR" sz="2000" dirty="0" smtClean="0">
              <a:latin typeface="Arial" pitchFamily="34" charset="0"/>
              <a:cs typeface="Arial" pitchFamily="34" charset="0"/>
            </a:endParaRPr>
          </a:p>
          <a:p>
            <a:pPr marL="342900" indent="-342900">
              <a:buAutoNum type="alphaLcParenR" startAt="2"/>
            </a:pPr>
            <a:r>
              <a:rPr lang="es-AR" sz="2000" dirty="0" smtClean="0"/>
              <a:t>1.400   ( 4.200/3 )</a:t>
            </a:r>
          </a:p>
          <a:p>
            <a:pPr marL="342900" indent="-342900">
              <a:buAutoNum type="alphaLcParenR" startAt="2"/>
            </a:pPr>
            <a:endParaRPr lang="es-AR" sz="2000" dirty="0" smtClean="0"/>
          </a:p>
          <a:p>
            <a:r>
              <a:rPr lang="es-AR" sz="2000" dirty="0" smtClean="0"/>
              <a:t>c)   X=1300    </a:t>
            </a:r>
            <a:r>
              <a:rPr lang="es-AR" sz="2000" dirty="0" smtClean="0">
                <a:sym typeface="Wingdings" pitchFamily="2" charset="2"/>
              </a:rPr>
              <a:t>    2</a:t>
            </a:r>
            <a:endParaRPr lang="es-AR" sz="2000" dirty="0" smtClean="0"/>
          </a:p>
          <a:p>
            <a:endParaRPr lang="es-AR" dirty="0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539</TotalTime>
  <Words>212</Words>
  <Application>Microsoft Office PowerPoint</Application>
  <PresentationFormat>Presentación en pantalla (4:3)</PresentationFormat>
  <Paragraphs>54</Paragraphs>
  <Slides>2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2</vt:i4>
      </vt:variant>
    </vt:vector>
  </HeadingPairs>
  <TitlesOfParts>
    <vt:vector size="3" baseType="lpstr">
      <vt:lpstr>Tema de Office</vt:lpstr>
      <vt:lpstr>Presentación de PowerPoint</vt:lpstr>
      <vt:lpstr>Se desea conocer: Para cada Tambo, Nombre y el día que más litros de leche entregó. Promedio total de leche entregado por Tambo. Cuántos Tambos superaron X litros en total. (X es ingresado por teclado).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Diapositiva 1</dc:title>
  <dc:creator>Ivonne</dc:creator>
  <cp:lastModifiedBy>Guille</cp:lastModifiedBy>
  <cp:revision>7</cp:revision>
  <dcterms:created xsi:type="dcterms:W3CDTF">2024-03-22T02:57:53Z</dcterms:created>
  <dcterms:modified xsi:type="dcterms:W3CDTF">2024-09-09T18:32:23Z</dcterms:modified>
</cp:coreProperties>
</file>